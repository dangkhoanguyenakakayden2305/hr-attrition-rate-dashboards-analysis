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Hires</c:v>
                </c:pt>
              </c:strCache>
            </c:strRef>
          </c:tx>
          <c:spPr>
            <a:solidFill>
              <a:srgbClr val="7C5CB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9B1-4E1F-8281-BFBBA3053CF5}"/>
              </c:ext>
            </c:extLst>
          </c:dPt>
          <c:dPt>
            <c:idx val="1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B1-4E1F-8281-BFBBA3053CF5}"/>
              </c:ext>
            </c:extLst>
          </c:dPt>
          <c:dPt>
            <c:idx val="2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B1-4E1F-8281-BFBBA3053CF5}"/>
              </c:ext>
            </c:extLst>
          </c:dPt>
          <c:dPt>
            <c:idx val="3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B1-4E1F-8281-BFBBA3053CF5}"/>
              </c:ext>
            </c:extLst>
          </c:dPt>
          <c:dPt>
            <c:idx val="4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9B1-4E1F-8281-BFBBA3053CF5}"/>
              </c:ext>
            </c:extLst>
          </c:dPt>
          <c:dPt>
            <c:idx val="5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9B1-4E1F-8281-BFBBA3053CF5}"/>
              </c:ext>
            </c:extLst>
          </c:dPt>
          <c:dPt>
            <c:idx val="6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9B1-4E1F-8281-BFBBA3053CF5}"/>
              </c:ext>
            </c:extLst>
          </c:dPt>
          <c:dPt>
            <c:idx val="7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9B1-4E1F-8281-BFBBA3053CF5}"/>
              </c:ext>
            </c:extLst>
          </c:dPt>
          <c:dPt>
            <c:idx val="8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9B1-4E1F-8281-BFBBA3053CF5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9B1-4E1F-8281-BFBBA3053C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77</c:v>
                </c:pt>
                <c:pt idx="1">
                  <c:v>91</c:v>
                </c:pt>
                <c:pt idx="2">
                  <c:v>86</c:v>
                </c:pt>
                <c:pt idx="3">
                  <c:v>134</c:v>
                </c:pt>
                <c:pt idx="4">
                  <c:v>179</c:v>
                </c:pt>
                <c:pt idx="5">
                  <c:v>148</c:v>
                </c:pt>
                <c:pt idx="6">
                  <c:v>178</c:v>
                </c:pt>
                <c:pt idx="7">
                  <c:v>158</c:v>
                </c:pt>
                <c:pt idx="8">
                  <c:v>127</c:v>
                </c:pt>
                <c:pt idx="9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9B1-4E1F-8281-BFBBA3053C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4A30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949-4736-89B5-32A44FF7C6EA}"/>
              </c:ext>
            </c:extLst>
          </c:dPt>
          <c:dPt>
            <c:idx val="1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49-4736-89B5-32A44FF7C6EA}"/>
              </c:ext>
            </c:extLst>
          </c:dPt>
          <c:dPt>
            <c:idx val="2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49-4736-89B5-32A44FF7C6EA}"/>
              </c:ext>
            </c:extLst>
          </c:dPt>
          <c:dPt>
            <c:idx val="3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49-4736-89B5-32A44FF7C6EA}"/>
              </c:ext>
            </c:extLst>
          </c:dPt>
          <c:dPt>
            <c:idx val="4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49-4736-89B5-32A44FF7C6EA}"/>
              </c:ext>
            </c:extLst>
          </c:dPt>
          <c:dPt>
            <c:idx val="5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49-4736-89B5-32A44FF7C6EA}"/>
              </c:ext>
            </c:extLst>
          </c:dPt>
          <c:dPt>
            <c:idx val="6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949-4736-89B5-32A44FF7C6EA}"/>
              </c:ext>
            </c:extLst>
          </c:dPt>
          <c:dPt>
            <c:idx val="7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49-4736-89B5-32A44FF7C6EA}"/>
              </c:ext>
            </c:extLst>
          </c:dPt>
          <c:dPt>
            <c:idx val="8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949-4736-89B5-32A44FF7C6EA}"/>
              </c:ext>
            </c:extLst>
          </c:dPt>
          <c:dPt>
            <c:idx val="9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949-4736-89B5-32A44FF7C6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Solutions Arch.</c:v>
                </c:pt>
                <c:pt idx="1">
                  <c:v>Sales Rep.</c:v>
                </c:pt>
                <c:pt idx="2">
                  <c:v>Community Ptnr.</c:v>
                </c:pt>
                <c:pt idx="3">
                  <c:v>Account Exec.</c:v>
                </c:pt>
                <c:pt idx="4">
                  <c:v>IT Support Off.</c:v>
                </c:pt>
                <c:pt idx="5">
                  <c:v>Software Eng.</c:v>
                </c:pt>
                <c:pt idx="6">
                  <c:v>Sustain. Analyst</c:v>
                </c:pt>
                <c:pt idx="7">
                  <c:v>Data Analyst</c:v>
                </c:pt>
                <c:pt idx="8">
                  <c:v>Regional Sales Mgr</c:v>
                </c:pt>
                <c:pt idx="9">
                  <c:v>ESG Prog. Mgr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26.3</c:v>
                </c:pt>
                <c:pt idx="1">
                  <c:v>25.5</c:v>
                </c:pt>
                <c:pt idx="2">
                  <c:v>24.2</c:v>
                </c:pt>
                <c:pt idx="3">
                  <c:v>23.4</c:v>
                </c:pt>
                <c:pt idx="4">
                  <c:v>22.1</c:v>
                </c:pt>
                <c:pt idx="5">
                  <c:v>21.7</c:v>
                </c:pt>
                <c:pt idx="6">
                  <c:v>21.4</c:v>
                </c:pt>
                <c:pt idx="7">
                  <c:v>21</c:v>
                </c:pt>
                <c:pt idx="8">
                  <c:v>20.8</c:v>
                </c:pt>
                <c:pt idx="9">
                  <c:v>19.600000000000001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949-4736-89B5-32A44FF7C6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88-47F7-A70D-F44C3405188D}"/>
              </c:ext>
            </c:extLst>
          </c:dPt>
          <c:dPt>
            <c:idx val="1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88-47F7-A70D-F44C3405188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88-47F7-A70D-F44C3405188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688-47F7-A70D-F44C3405188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 77.97%</c:v>
                </c:pt>
                <c:pt idx="1">
                  <c:v>Female  22.03%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77.97</c:v>
                </c:pt>
                <c:pt idx="1">
                  <c:v>22.03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88-47F7-A70D-F44C340518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777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4A30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86-4827-8F09-E5BE04F4DF7C}"/>
              </c:ext>
            </c:extLst>
          </c:dPt>
          <c:dPt>
            <c:idx val="1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86-4827-8F09-E5BE04F4DF7C}"/>
              </c:ext>
            </c:extLst>
          </c:dPt>
          <c:dPt>
            <c:idx val="2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86-4827-8F09-E5BE04F4DF7C}"/>
              </c:ext>
            </c:extLst>
          </c:dPt>
          <c:dPt>
            <c:idx val="3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A86-4827-8F09-E5BE04F4DF7C}"/>
              </c:ext>
            </c:extLst>
          </c:dPt>
          <c:dPt>
            <c:idx val="4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A86-4827-8F09-E5BE04F4DF7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35-44</c:v>
                </c:pt>
                <c:pt idx="1">
                  <c:v>45-54</c:v>
                </c:pt>
                <c:pt idx="2">
                  <c:v>25-34</c:v>
                </c:pt>
                <c:pt idx="3">
                  <c:v>55-65</c:v>
                </c:pt>
                <c:pt idx="4">
                  <c:v>22-24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510</c:v>
                </c:pt>
                <c:pt idx="1">
                  <c:v>304</c:v>
                </c:pt>
                <c:pt idx="2">
                  <c:v>273</c:v>
                </c:pt>
                <c:pt idx="3">
                  <c:v>234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A86-4827-8F09-E5BE04F4DF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B7-4568-BE3B-64FDF08C139E}"/>
              </c:ext>
            </c:extLst>
          </c:dPt>
          <c:dPt>
            <c:idx val="1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B7-4568-BE3B-64FDF08C139E}"/>
              </c:ext>
            </c:extLst>
          </c:dPt>
          <c:dPt>
            <c:idx val="2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B7-4568-BE3B-64FDF08C139E}"/>
              </c:ext>
            </c:extLst>
          </c:dPt>
          <c:dPt>
            <c:idx val="3"/>
            <c:bubble3D val="0"/>
            <c:spPr>
              <a:solidFill>
                <a:srgbClr val="DDD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B7-4568-BE3B-64FDF08C139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B7-4568-BE3B-64FDF08C139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B7-4568-BE3B-64FDF08C139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B7-4568-BE3B-64FDF08C139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4B7-4568-BE3B-64FDF08C13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Masters 47.25%</c:v>
                </c:pt>
                <c:pt idx="1">
                  <c:v>Doctorate 22.9%</c:v>
                </c:pt>
                <c:pt idx="2">
                  <c:v>Bachelor 20.36%</c:v>
                </c:pt>
                <c:pt idx="3">
                  <c:v>Associate 9.49%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47.25</c:v>
                </c:pt>
                <c:pt idx="1">
                  <c:v>22.9</c:v>
                </c:pt>
                <c:pt idx="2">
                  <c:v>20.36</c:v>
                </c:pt>
                <c:pt idx="3">
                  <c:v>9.49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B7-4568-BE3B-64FDF08C1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777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4A30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Under $80k</c:v>
                </c:pt>
                <c:pt idx="1">
                  <c:v>$80-120k</c:v>
                </c:pt>
                <c:pt idx="2">
                  <c:v>$120-160k</c:v>
                </c:pt>
                <c:pt idx="3">
                  <c:v>$160-220k</c:v>
                </c:pt>
                <c:pt idx="4">
                  <c:v>$220k+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</c:v>
                </c:pt>
                <c:pt idx="1">
                  <c:v>12.83</c:v>
                </c:pt>
                <c:pt idx="2">
                  <c:v>33.22</c:v>
                </c:pt>
                <c:pt idx="3">
                  <c:v>39.47</c:v>
                </c:pt>
                <c:pt idx="4">
                  <c:v>14.14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9D-4689-B422-85391435BE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B8A0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Under $80k</c:v>
                </c:pt>
                <c:pt idx="1">
                  <c:v>$80-120k</c:v>
                </c:pt>
                <c:pt idx="2">
                  <c:v>$120-160k</c:v>
                </c:pt>
                <c:pt idx="3">
                  <c:v>$160-220k</c:v>
                </c:pt>
                <c:pt idx="4">
                  <c:v>$220k+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1.67</c:v>
                </c:pt>
                <c:pt idx="1">
                  <c:v>17.29</c:v>
                </c:pt>
                <c:pt idx="2">
                  <c:v>25.93</c:v>
                </c:pt>
                <c:pt idx="3">
                  <c:v>35.78</c:v>
                </c:pt>
                <c:pt idx="4">
                  <c:v>19.329999999999998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9D-4689-B422-85391435B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777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Employees</c:v>
                </c:pt>
              </c:strCache>
            </c:strRef>
          </c:tx>
          <c:spPr>
            <a:solidFill>
              <a:srgbClr val="B8A0D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9B-43F9-8AA1-C7FCF7D4F980}"/>
              </c:ext>
            </c:extLst>
          </c:dPt>
          <c:dPt>
            <c:idx val="1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B9B-43F9-8AA1-C7FCF7D4F980}"/>
              </c:ext>
            </c:extLst>
          </c:dPt>
          <c:dPt>
            <c:idx val="2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B9B-43F9-8AA1-C7FCF7D4F980}"/>
              </c:ext>
            </c:extLst>
          </c:dPt>
          <c:dPt>
            <c:idx val="3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9B-43F9-8AA1-C7FCF7D4F98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12.03</c:v>
                </c:pt>
                <c:pt idx="1">
                  <c:v>29.35</c:v>
                </c:pt>
                <c:pt idx="2">
                  <c:v>29.86</c:v>
                </c:pt>
                <c:pt idx="3">
                  <c:v>28.77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9B-43F9-8AA1-C7FCF7D4F9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Employees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FE-446E-968D-054A81979BBE}"/>
              </c:ext>
            </c:extLst>
          </c:dPt>
          <c:dPt>
            <c:idx val="1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FE-446E-968D-054A81979BBE}"/>
              </c:ext>
            </c:extLst>
          </c:dPt>
          <c:dPt>
            <c:idx val="2"/>
            <c:invertIfNegative val="0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FE-446E-968D-054A81979BBE}"/>
              </c:ext>
            </c:extLst>
          </c:dPt>
          <c:dPt>
            <c:idx val="3"/>
            <c:invertIfNegative val="0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FE-446E-968D-054A81979BBE}"/>
              </c:ext>
            </c:extLst>
          </c:dPt>
          <c:dPt>
            <c:idx val="4"/>
            <c:invertIfNegative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FE-446E-968D-054A81979B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sessions</c:v>
                </c:pt>
                <c:pt idx="1">
                  <c:v>1 session</c:v>
                </c:pt>
                <c:pt idx="2">
                  <c:v>2 sessions</c:v>
                </c:pt>
                <c:pt idx="3">
                  <c:v>3 sessions</c:v>
                </c:pt>
                <c:pt idx="4">
                  <c:v>4+ sessions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</c:v>
                </c:pt>
                <c:pt idx="1">
                  <c:v>7.9</c:v>
                </c:pt>
                <c:pt idx="2">
                  <c:v>21.3</c:v>
                </c:pt>
                <c:pt idx="3">
                  <c:v>31.96</c:v>
                </c:pt>
                <c:pt idx="4">
                  <c:v>37.54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FE-446E-968D-054A81979B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Absence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3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55-4F3E-A134-AD0DC8D5A66A}"/>
              </c:ext>
            </c:extLst>
          </c:dPt>
          <c:dPt>
            <c:idx val="1"/>
            <c:bubble3D val="0"/>
            <c:spPr>
              <a:solidFill>
                <a:srgbClr val="7C5C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55-4F3E-A134-AD0DC8D5A66A}"/>
              </c:ext>
            </c:extLst>
          </c:dPt>
          <c:dPt>
            <c:idx val="2"/>
            <c:bubble3D val="0"/>
            <c:spPr>
              <a:solidFill>
                <a:srgbClr val="B8A0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55-4F3E-A134-AD0DC8D5A66A}"/>
              </c:ext>
            </c:extLst>
          </c:dPt>
          <c:dPt>
            <c:idx val="3"/>
            <c:bubble3D val="0"/>
            <c:spPr>
              <a:solidFill>
                <a:srgbClr val="DDD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855-4F3E-A134-AD0DC8D5A6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855-4F3E-A134-AD0DC8D5A6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855-4F3E-A134-AD0DC8D5A6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855-4F3E-A134-AD0DC8D5A66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855-4F3E-A134-AD0DC8D5A6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0-3 days  21.7%</c:v>
                </c:pt>
                <c:pt idx="1">
                  <c:v>4-7 days  47.0%</c:v>
                </c:pt>
                <c:pt idx="2">
                  <c:v>8-12 days  29.1%</c:v>
                </c:pt>
                <c:pt idx="3">
                  <c:v>13+ days  2.2%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21.7</c:v>
                </c:pt>
                <c:pt idx="1">
                  <c:v>47</c:v>
                </c:pt>
                <c:pt idx="2">
                  <c:v>29.1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855-4F3E-A134-AD0DC8D5A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7777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24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7C5CB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7C5CB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B8A0D8">
              <a:alpha val="18000"/>
            </a:srgbClr>
          </a:solidFill>
          <a:ln w="12700">
            <a:solidFill>
              <a:srgbClr val="B8A0D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64008" cy="2377440"/>
          </a:xfrm>
          <a:prstGeom prst="rect">
            <a:avLst/>
          </a:prstGeom>
          <a:solidFill>
            <a:srgbClr val="B8A0D8"/>
          </a:solidFill>
          <a:ln w="12700">
            <a:solidFill>
              <a:srgbClr val="B8A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People Analytics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Dashboard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i="1" dirty="0">
                <a:solidFill>
                  <a:srgbClr val="B8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  Workforce Composition   Career Mobility   Pay Equity   People Experience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98280" y="1298448"/>
            <a:ext cx="2834640" cy="1143000"/>
          </a:xfrm>
          <a:prstGeom prst="rect">
            <a:avLst/>
          </a:prstGeom>
          <a:solidFill>
            <a:srgbClr val="7C5CBF">
              <a:alpha val="65000"/>
            </a:srgbClr>
          </a:solidFill>
          <a:ln w="12700">
            <a:solidFill>
              <a:srgbClr val="B8A0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72" y="164592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756648" y="142646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756648" y="1956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Attrition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98280" y="2596896"/>
            <a:ext cx="2834640" cy="1143000"/>
          </a:xfrm>
          <a:prstGeom prst="rect">
            <a:avLst/>
          </a:prstGeom>
          <a:solidFill>
            <a:srgbClr val="7C5CBF">
              <a:alpha val="65000"/>
            </a:srgbClr>
          </a:solidFill>
          <a:ln w="12700">
            <a:solidFill>
              <a:srgbClr val="B8A0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2" y="294436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756648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9756648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098280" y="3895344"/>
            <a:ext cx="2834640" cy="1143000"/>
          </a:xfrm>
          <a:prstGeom prst="rect">
            <a:avLst/>
          </a:prstGeom>
          <a:solidFill>
            <a:srgbClr val="7C5CBF">
              <a:alpha val="65000"/>
            </a:srgbClr>
          </a:solidFill>
          <a:ln w="12700">
            <a:solidFill>
              <a:srgbClr val="B8A0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424281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56648" y="40233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1,380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9756648" y="4553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98280" y="5193792"/>
            <a:ext cx="2834640" cy="1143000"/>
          </a:xfrm>
          <a:prstGeom prst="rect">
            <a:avLst/>
          </a:prstGeom>
          <a:solidFill>
            <a:srgbClr val="7C5CBF">
              <a:alpha val="65000"/>
            </a:srgbClr>
          </a:solidFill>
          <a:ln w="12700">
            <a:solidFill>
              <a:srgbClr val="B8A0D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5541264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56648" y="53218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3.16 / 4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9756648" y="5852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379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and Communicating Insights for Business   Assignment 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Attrition Risk is Material and Role-Specific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2743200" cy="1371600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54864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133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4183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Attritions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183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workforce risk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078992"/>
            <a:ext cx="2743200" cy="1371600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078992"/>
            <a:ext cx="54864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070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192" y="1133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82219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82219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benchmark: 10-15%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0760" y="1078992"/>
            <a:ext cx="2743200" cy="1371600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80760" y="1078992"/>
            <a:ext cx="54864" cy="137160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0700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02552" y="1133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1,380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670255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70255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headcount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961120" y="1078992"/>
            <a:ext cx="2743200" cy="1371600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961120" y="1078992"/>
            <a:ext cx="54864" cy="1371600"/>
          </a:xfrm>
          <a:prstGeom prst="rect">
            <a:avLst/>
          </a:prstGeom>
          <a:solidFill>
            <a:srgbClr val="1D7A6E"/>
          </a:solidFill>
          <a:ln w="12700">
            <a:solidFill>
              <a:srgbClr val="1D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20700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82912" y="1133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3.16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958291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582912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4.0  moderate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20040" y="26517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  2015 to 2024</a:t>
            </a:r>
            <a:endParaRPr lang="en-US" sz="13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274320" y="2944368"/>
          <a:ext cx="57607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Shape 24"/>
          <p:cNvSpPr/>
          <p:nvPr/>
        </p:nvSpPr>
        <p:spPr>
          <a:xfrm>
            <a:off x="2121408" y="3017520"/>
            <a:ext cx="1600200" cy="274320"/>
          </a:xfrm>
          <a:prstGeom prst="roundRect">
            <a:avLst>
              <a:gd name="adj" fmla="val 13333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2121408" y="30449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179 hires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983480" y="5230368"/>
            <a:ext cx="173736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4983480" y="5257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drop in 2024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400800" y="2651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by Role  Top 10</a:t>
            </a:r>
            <a:endParaRPr lang="en-US" sz="1300" dirty="0"/>
          </a:p>
        </p:txBody>
      </p:sp>
      <p:graphicFrame>
        <p:nvGraphicFramePr>
          <p:cNvPr id="36" name="Chart 1"/>
          <p:cNvGraphicFramePr/>
          <p:nvPr/>
        </p:nvGraphicFramePr>
        <p:xfrm>
          <a:off x="6400800" y="2944368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7" name="Shape 29"/>
          <p:cNvSpPr/>
          <p:nvPr/>
        </p:nvSpPr>
        <p:spPr>
          <a:xfrm>
            <a:off x="8869680" y="3017520"/>
            <a:ext cx="274320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8869680" y="3044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above 22% attrition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320040" y="6199632"/>
            <a:ext cx="11521440" cy="530352"/>
          </a:xfrm>
          <a:prstGeom prst="rect">
            <a:avLst/>
          </a:prstGeom>
          <a:solidFill>
            <a:srgbClr val="FDE8E8"/>
          </a:solidFill>
          <a:ln w="12700">
            <a:solidFill>
              <a:srgbClr val="F0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320040" y="6199632"/>
            <a:ext cx="54864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457200" y="6291072"/>
            <a:ext cx="11301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attrition benchmark is 10 to 15%. Every role shown here is well above safe levels. Blanket HR programs will not work. Role-specific interventions are required</a:t>
            </a:r>
            <a:r>
              <a:rPr lang="en-US" sz="1100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Imbalance Changes How Equity Indicators Should Be Interpreted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37160" y="1353312"/>
          <a:ext cx="42062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1938528"/>
            <a:ext cx="251460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 more men than women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462272"/>
            <a:ext cx="4160520" cy="713232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4462272"/>
            <a:ext cx="54864" cy="7132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4553712"/>
            <a:ext cx="39410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78/22 split means salary, level and satisfaction data must be read with gender composition in mind, not as face-value averages.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66344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3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572000" y="1353312"/>
          <a:ext cx="36118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4892040" y="1417320"/>
            <a:ext cx="260604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892040" y="144475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band: 35-44  (510)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92040" y="3950208"/>
            <a:ext cx="2377440" cy="292608"/>
          </a:xfrm>
          <a:prstGeom prst="roundRect">
            <a:avLst>
              <a:gd name="adj" fmla="val 12500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892040" y="3977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talent: only 59  (4%)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4462272"/>
            <a:ext cx="3611880" cy="713232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0" y="4462272"/>
            <a:ext cx="54864" cy="713232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709160" y="4553712"/>
            <a:ext cx="3392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skews older. Low intake of 22-24 year olds signals a talent pipeline gap affecting long-term succession.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458200" y="1078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300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8321040" y="1353312"/>
          <a:ext cx="36576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18"/>
          <p:cNvSpPr/>
          <p:nvPr/>
        </p:nvSpPr>
        <p:spPr>
          <a:xfrm>
            <a:off x="8641080" y="1417320"/>
            <a:ext cx="256032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8641080" y="1444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hold Masters degrees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321040" y="4462272"/>
            <a:ext cx="3657600" cy="713232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8321040" y="4462272"/>
            <a:ext cx="54864" cy="7132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458200" y="4553712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and Doctorate holders represent 70% of staff, raising expectations for structured career development and promotion pathways.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320040" y="5321808"/>
            <a:ext cx="11521440" cy="1371600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320040" y="5321808"/>
            <a:ext cx="54864" cy="137160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0292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Interpretation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02920" y="56875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78/22 gender split does not prove inequity on its own. However it </a:t>
            </a: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affects how salary, job level and satisfaction data should be read.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controlled analysis by department, role, tenure and performance is required before drawing any conclusions about pay or progression equity.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Mobility Should Be Monitored as a Retention Driver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1338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Dimension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46120" y="11338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yrs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18888" y="11338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yrs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91656" y="11338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yrs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64424" y="11338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yrs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537192" y="11338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481328"/>
            <a:ext cx="2926080" cy="768096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1682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8132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1664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9.57%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18888" y="148132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1664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19.13%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91656" y="148132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91656" y="1664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18.48%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64424" y="148132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64424" y="1664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31.59%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537192" y="148132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37192" y="166420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21.23%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" y="2304288"/>
            <a:ext cx="2926080" cy="768096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25054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in current role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46120" y="2304288"/>
            <a:ext cx="1572768" cy="768096"/>
          </a:xfrm>
          <a:prstGeom prst="rect">
            <a:avLst/>
          </a:prstGeom>
          <a:solidFill>
            <a:srgbClr val="7C5CBF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46120" y="2487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36.45%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18888" y="230428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18888" y="2487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25.29%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91656" y="230428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91656" y="2487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16.81%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964424" y="230428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64424" y="2487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16.23%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537192" y="230428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537192" y="248716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5.22%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20040" y="3127248"/>
            <a:ext cx="2926080" cy="768096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9768" y="33284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Yrs since last promotion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3127248"/>
            <a:ext cx="1572768" cy="768096"/>
          </a:xfrm>
          <a:prstGeom prst="rect">
            <a:avLst/>
          </a:prstGeom>
          <a:solidFill>
            <a:srgbClr val="4A306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46120" y="33101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62.97%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818888" y="312724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18888" y="33101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20.8%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391656" y="312724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91656" y="33101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64424" y="312724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964424" y="33101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5.72%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537192" y="312724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37192" y="33101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20040" y="3950208"/>
            <a:ext cx="2926080" cy="768096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29768" y="4151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with manager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46120" y="3950208"/>
            <a:ext cx="1572768" cy="768096"/>
          </a:xfrm>
          <a:prstGeom prst="rect">
            <a:avLst/>
          </a:prstGeom>
          <a:solidFill>
            <a:srgbClr val="7C5CBF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46120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37.1%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818888" y="3950208"/>
            <a:ext cx="1572768" cy="768096"/>
          </a:xfrm>
          <a:prstGeom prst="rect">
            <a:avLst/>
          </a:prstGeom>
          <a:solidFill>
            <a:srgbClr val="B8A0D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18888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27.17%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391656" y="395020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91656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14.93%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7964424" y="395020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964424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16.16%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9537192" y="3950208"/>
            <a:ext cx="1572768" cy="768096"/>
          </a:xfrm>
          <a:prstGeom prst="rect">
            <a:avLst/>
          </a:prstGeom>
          <a:solidFill>
            <a:srgbClr val="EDE8F7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37192" y="413308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3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4.64%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3227832" y="3108960"/>
            <a:ext cx="1609344" cy="7863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83480" y="320040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83480" y="32278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concentration!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946136" y="1463040"/>
            <a:ext cx="1609344" cy="78638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818120" y="1097280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818120" y="1124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Long-stayers: 31.59%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20040" y="5157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intensity: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286000" y="5166360"/>
            <a:ext cx="256032" cy="219456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596896" y="5166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(50-65%)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754880" y="5166360"/>
            <a:ext cx="256032" cy="219456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65776" y="5166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(30-50%)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23760" y="5166360"/>
            <a:ext cx="256032" cy="219456"/>
          </a:xfrm>
          <a:prstGeom prst="rect">
            <a:avLst/>
          </a:prstGeom>
          <a:solidFill>
            <a:srgbClr val="B8A0D8"/>
          </a:solidFill>
          <a:ln w="12700">
            <a:solidFill>
              <a:srgbClr val="B8A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534656" y="5166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(15-30%)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692640" y="5166360"/>
            <a:ext cx="256032" cy="219456"/>
          </a:xfrm>
          <a:prstGeom prst="rect">
            <a:avLst/>
          </a:prstGeom>
          <a:solidFill>
            <a:srgbClr val="EDE8F7"/>
          </a:solidFill>
          <a:ln w="12700">
            <a:solidFill>
              <a:srgbClr val="EDE8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003536" y="5166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(under 15%)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20040" y="5577840"/>
            <a:ext cx="11521440" cy="1115568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320040" y="5577840"/>
            <a:ext cx="54864" cy="1115568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57200" y="5669280"/>
            <a:ext cx="11301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62.97% of employees have not been promoted in the last 0-1 years. This is the single darkest cell in the heatmap. 31.59% have 6-10 years of company tenure, flagging long-stayers at risk of disengagement. Career stagnation rarely surfaces from a single metric alone. This heatmap compresses four career variables into one actionable view.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Salary Distribution Requires Controlled Pay Equity Analysis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by Gender   % of employees in each pay band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6858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91840" y="1444752"/>
            <a:ext cx="338328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291840" y="14721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39.47% vs Male 35.78% in top band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4901184"/>
            <a:ext cx="6858000" cy="713232"/>
          </a:xfrm>
          <a:prstGeom prst="rect">
            <a:avLst/>
          </a:prstGeom>
          <a:solidFill>
            <a:srgbClr val="FEF9E7"/>
          </a:solidFill>
          <a:ln w="12700">
            <a:solidFill>
              <a:srgbClr val="D4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4901184"/>
            <a:ext cx="54864" cy="713232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4992624"/>
            <a:ext cx="6638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Surface-level data shows females more concentrated in the top pay band. This cannot be used to draw equity conclusions without controlling for role, level, and tenure first.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1078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 Distribution</a:t>
            </a:r>
            <a:endParaRPr lang="en-US" sz="13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7315200" y="137160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7589520" y="1444752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589520" y="14721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2, 3 and 4 nearly equal (28-30%)  flat hierarchy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0" y="4901184"/>
            <a:ext cx="4572000" cy="713232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0" y="4901184"/>
            <a:ext cx="54864" cy="713232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452360" y="4992624"/>
            <a:ext cx="4352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level shares from Level 2 to 4 mean limited visible upward mobility signals for most staff. This is a disengagement and attrition risk</a:t>
            </a: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5760720"/>
            <a:ext cx="11521440" cy="932688"/>
          </a:xfrm>
          <a:prstGeom prst="rect">
            <a:avLst/>
          </a:prstGeom>
          <a:solidFill>
            <a:srgbClr val="F0ECF8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20040" y="5760720"/>
            <a:ext cx="54864" cy="932688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5852160"/>
            <a:ext cx="113019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data: Salary charts are a pay equity screening tool, not a final conclusion. A controlled regression analysis by role, level, tenure and performance rating is required before any equity or bias determination can be made.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is Strong, But Its Outcome Impact is Unclear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sessions attended   % of workforce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371600"/>
          <a:ext cx="65836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047488" y="144475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47488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37.54%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21808" y="1737360"/>
            <a:ext cx="1188720" cy="3310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5376672"/>
            <a:ext cx="6583680" cy="914400"/>
          </a:xfrm>
          <a:prstGeom prst="rect">
            <a:avLst/>
          </a:prstGeom>
          <a:solidFill>
            <a:srgbClr val="E6F5EE"/>
          </a:solidFill>
          <a:ln w="12700">
            <a:solidFill>
              <a:srgbClr val="8CC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5376672"/>
            <a:ext cx="54864" cy="914400"/>
          </a:xfrm>
          <a:prstGeom prst="rect">
            <a:avLst/>
          </a:prstGeom>
          <a:solidFill>
            <a:srgbClr val="1D7A6E"/>
          </a:solidFill>
          <a:ln w="12700">
            <a:solidFill>
              <a:srgbClr val="1D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5468112"/>
            <a:ext cx="6364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training participation but volume does not equal capability improvement. Cross-reference with the career heatmap: if trained employees remain in stagnant mobility bands, training is not converting to career progression.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60920" y="1078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Days Distribution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7178040" y="1371600"/>
          <a:ext cx="47548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Shape 11"/>
          <p:cNvSpPr/>
          <p:nvPr/>
        </p:nvSpPr>
        <p:spPr>
          <a:xfrm>
            <a:off x="7589520" y="2788920"/>
            <a:ext cx="2743200" cy="292608"/>
          </a:xfrm>
          <a:prstGeom prst="roundRect">
            <a:avLst>
              <a:gd name="adj" fmla="val 12500"/>
            </a:avLst>
          </a:prstGeom>
          <a:solidFill>
            <a:srgbClr val="1D7A6E"/>
          </a:solidFill>
          <a:ln w="12700">
            <a:solidFill>
              <a:srgbClr val="1D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589520" y="2816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in healthy 4-7 day range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589520" y="3182112"/>
            <a:ext cx="2743200" cy="292608"/>
          </a:xfrm>
          <a:prstGeom prst="roundRect">
            <a:avLst>
              <a:gd name="adj" fmla="val 12500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589520" y="32095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2.2% chronic  (13+ days)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178040" y="5376672"/>
            <a:ext cx="4754880" cy="914400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178040" y="5376672"/>
            <a:ext cx="54864" cy="91440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315200" y="5468112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not a systemic problem. Monitor the 13+ day band alongside job satisfaction and attrition data every quarter. Chronic absence often precedes voluntary turnover by 2 to 3 months.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Experience is Moderate-to-Positive, Not Uniformly High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1521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152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33088" y="1152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31536" y="1152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9984" y="1152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28432" y="1152144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152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62763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1481328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34640" y="16276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33088" y="1481328"/>
            <a:ext cx="1298448" cy="576072"/>
          </a:xfrm>
          <a:prstGeom prst="rect">
            <a:avLst/>
          </a:prstGeom>
          <a:solidFill>
            <a:srgbClr val="FBEEE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33088" y="16276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31536" y="1481328"/>
            <a:ext cx="1298448" cy="576072"/>
          </a:xfrm>
          <a:prstGeom prst="rect">
            <a:avLst/>
          </a:prstGeom>
          <a:solidFill>
            <a:srgbClr val="B0B0B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31536" y="16276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29984" y="1481328"/>
            <a:ext cx="1298448" cy="576072"/>
          </a:xfrm>
          <a:prstGeom prst="rect">
            <a:avLst/>
          </a:prstGeom>
          <a:solidFill>
            <a:srgbClr val="7EA8E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9984" y="16276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28432" y="1481328"/>
            <a:ext cx="1298448" cy="576072"/>
          </a:xfrm>
          <a:prstGeom prst="rect">
            <a:avLst/>
          </a:prstGeom>
          <a:solidFill>
            <a:srgbClr val="9AD4B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28432" y="16276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18320" y="1481328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09760" y="160934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Moderate-positive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103120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249424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2103120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34640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33088" y="2103120"/>
            <a:ext cx="1298448" cy="576072"/>
          </a:xfrm>
          <a:prstGeom prst="rect">
            <a:avLst/>
          </a:prstGeom>
          <a:solidFill>
            <a:srgbClr val="FBEEE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33088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31536" y="2103120"/>
            <a:ext cx="1298448" cy="576072"/>
          </a:xfrm>
          <a:prstGeom prst="rect">
            <a:avLst/>
          </a:prstGeom>
          <a:solidFill>
            <a:srgbClr val="B0B0B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31536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29984" y="2103120"/>
            <a:ext cx="1298448" cy="576072"/>
          </a:xfrm>
          <a:prstGeom prst="rect">
            <a:avLst/>
          </a:prstGeom>
          <a:solidFill>
            <a:srgbClr val="7EA8E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29984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28432" y="2103120"/>
            <a:ext cx="1298448" cy="576072"/>
          </a:xfrm>
          <a:prstGeom prst="rect">
            <a:avLst/>
          </a:prstGeom>
          <a:solidFill>
            <a:srgbClr val="55B88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28432" y="224942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18320" y="2103120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509760" y="223113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Moderate-positive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2724912"/>
            <a:ext cx="2514600" cy="576072"/>
          </a:xfrm>
          <a:prstGeom prst="rect">
            <a:avLst/>
          </a:prstGeom>
          <a:solidFill>
            <a:srgbClr val="FDE8E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2871216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834640" y="2724912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834640" y="28712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33088" y="2724912"/>
            <a:ext cx="1298448" cy="576072"/>
          </a:xfrm>
          <a:prstGeom prst="rect">
            <a:avLst/>
          </a:prstGeom>
          <a:solidFill>
            <a:srgbClr val="F5D08C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33088" y="28712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31536" y="2724912"/>
            <a:ext cx="1298448" cy="576072"/>
          </a:xfrm>
          <a:prstGeom prst="rect">
            <a:avLst/>
          </a:prstGeom>
          <a:solidFill>
            <a:srgbClr val="55555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431536" y="28712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29984" y="2724912"/>
            <a:ext cx="1298448" cy="576072"/>
          </a:xfrm>
          <a:prstGeom prst="rect">
            <a:avLst/>
          </a:prstGeom>
          <a:solidFill>
            <a:srgbClr val="B5C8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29984" y="28712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28432" y="2724912"/>
            <a:ext cx="1298448" cy="576072"/>
          </a:xfrm>
          <a:prstGeom prst="rect">
            <a:avLst/>
          </a:prstGeom>
          <a:solidFill>
            <a:srgbClr val="D8EEE4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028432" y="2871216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418320" y="2724912"/>
            <a:ext cx="2286000" cy="576072"/>
          </a:xfrm>
          <a:prstGeom prst="rect">
            <a:avLst/>
          </a:prstGeom>
          <a:solidFill>
            <a:srgbClr val="FDE8E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509760" y="2852928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neutral  watch closely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346704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11480" y="3493008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834640" y="3346704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834640" y="3493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133088" y="3346704"/>
            <a:ext cx="1298448" cy="576072"/>
          </a:xfrm>
          <a:prstGeom prst="rect">
            <a:avLst/>
          </a:prstGeom>
          <a:solidFill>
            <a:srgbClr val="F5D08C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33088" y="3493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31536" y="3346704"/>
            <a:ext cx="1298448" cy="576072"/>
          </a:xfrm>
          <a:prstGeom prst="rect">
            <a:avLst/>
          </a:prstGeom>
          <a:solidFill>
            <a:srgbClr val="88888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31536" y="3493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729984" y="3346704"/>
            <a:ext cx="1298448" cy="576072"/>
          </a:xfrm>
          <a:prstGeom prst="rect">
            <a:avLst/>
          </a:prstGeom>
          <a:solidFill>
            <a:srgbClr val="B5C8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729984" y="3493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028432" y="3346704"/>
            <a:ext cx="1298448" cy="576072"/>
          </a:xfrm>
          <a:prstGeom prst="rect">
            <a:avLst/>
          </a:prstGeom>
          <a:solidFill>
            <a:srgbClr val="9AD4B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028432" y="349300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418320" y="3346704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509760" y="34747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20040" y="3968496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11480" y="4114800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Score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834640" y="3968496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834640" y="41148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133088" y="3968496"/>
            <a:ext cx="1298448" cy="576072"/>
          </a:xfrm>
          <a:prstGeom prst="rect">
            <a:avLst/>
          </a:prstGeom>
          <a:solidFill>
            <a:srgbClr val="FBEEE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133088" y="41148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431536" y="3968496"/>
            <a:ext cx="1298448" cy="576072"/>
          </a:xfrm>
          <a:prstGeom prst="rect">
            <a:avLst/>
          </a:prstGeom>
          <a:solidFill>
            <a:srgbClr val="88888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431536" y="41148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729984" y="3968496"/>
            <a:ext cx="1298448" cy="576072"/>
          </a:xfrm>
          <a:prstGeom prst="rect">
            <a:avLst/>
          </a:prstGeom>
          <a:solidFill>
            <a:srgbClr val="7EA8E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729984" y="41148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8028432" y="3968496"/>
            <a:ext cx="1298448" cy="576072"/>
          </a:xfrm>
          <a:prstGeom prst="rect">
            <a:avLst/>
          </a:prstGeom>
          <a:solidFill>
            <a:srgbClr val="D8EEE4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028432" y="41148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418320" y="3968496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509760" y="4096512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20040" y="4590288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11480" y="4736592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2834640" y="4590288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834640" y="4736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133088" y="4590288"/>
            <a:ext cx="1298448" cy="576072"/>
          </a:xfrm>
          <a:prstGeom prst="rect">
            <a:avLst/>
          </a:prstGeom>
          <a:solidFill>
            <a:srgbClr val="FBEEE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133088" y="4736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31536" y="4590288"/>
            <a:ext cx="1298448" cy="576072"/>
          </a:xfrm>
          <a:prstGeom prst="rect">
            <a:avLst/>
          </a:prstGeom>
          <a:solidFill>
            <a:srgbClr val="B0B0B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431536" y="4736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6729984" y="4590288"/>
            <a:ext cx="1298448" cy="576072"/>
          </a:xfrm>
          <a:prstGeom prst="rect">
            <a:avLst/>
          </a:prstGeom>
          <a:solidFill>
            <a:srgbClr val="7EA8E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729984" y="4736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8028432" y="4590288"/>
            <a:ext cx="1298448" cy="576072"/>
          </a:xfrm>
          <a:prstGeom prst="rect">
            <a:avLst/>
          </a:prstGeom>
          <a:solidFill>
            <a:srgbClr val="9AD4B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028432" y="47365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9418320" y="4590288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509760" y="4718304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Moderate-positive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320040" y="5212080"/>
            <a:ext cx="2514600" cy="576072"/>
          </a:xfrm>
          <a:prstGeom prst="rect">
            <a:avLst/>
          </a:prstGeom>
          <a:solidFill>
            <a:srgbClr val="F5F3FA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11480" y="5358384"/>
            <a:ext cx="2368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Work/Life Balance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834640" y="5212080"/>
            <a:ext cx="1298448" cy="576072"/>
          </a:xfrm>
          <a:prstGeom prst="rect">
            <a:avLst/>
          </a:prstGeom>
          <a:solidFill>
            <a:srgbClr val="FCEDED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2834640" y="5358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4133088" y="5212080"/>
            <a:ext cx="1298448" cy="576072"/>
          </a:xfrm>
          <a:prstGeom prst="rect">
            <a:avLst/>
          </a:prstGeom>
          <a:solidFill>
            <a:srgbClr val="FBEEE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133088" y="5358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4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5431536" y="5212080"/>
            <a:ext cx="1298448" cy="576072"/>
          </a:xfrm>
          <a:prstGeom prst="rect">
            <a:avLst/>
          </a:prstGeom>
          <a:solidFill>
            <a:srgbClr val="B0B0B0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431536" y="5358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6729984" y="5212080"/>
            <a:ext cx="1298448" cy="576072"/>
          </a:xfrm>
          <a:prstGeom prst="rect">
            <a:avLst/>
          </a:prstGeom>
          <a:solidFill>
            <a:srgbClr val="7EA8E5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729984" y="5358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3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028432" y="5212080"/>
            <a:ext cx="1298448" cy="576072"/>
          </a:xfrm>
          <a:prstGeom prst="rect">
            <a:avLst/>
          </a:prstGeom>
          <a:solidFill>
            <a:srgbClr val="9AD4B8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8028432" y="5358384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5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23%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9418320" y="5212080"/>
            <a:ext cx="2286000" cy="576072"/>
          </a:xfrm>
          <a:prstGeom prst="rect">
            <a:avLst/>
          </a:prstGeom>
          <a:solidFill>
            <a:srgbClr val="E6F5EE"/>
          </a:solidFill>
          <a:ln w="12700">
            <a:solidFill>
              <a:srgbClr val="E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9509760" y="5340096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Moderate-positive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301752" y="2706624"/>
            <a:ext cx="11530584" cy="6217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6858000" y="2633472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6858000" y="26609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this row closely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320040" y="6071616"/>
            <a:ext cx="11521440" cy="658368"/>
          </a:xfrm>
          <a:prstGeom prst="rect">
            <a:avLst/>
          </a:prstGeom>
          <a:solidFill>
            <a:srgbClr val="EDE8F7"/>
          </a:solidFill>
          <a:ln w="12700">
            <a:solidFill>
              <a:srgbClr val="C5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20040" y="6071616"/>
            <a:ext cx="54864" cy="658368"/>
          </a:xfrm>
          <a:prstGeom prst="rect">
            <a:avLst/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57200" y="6163056"/>
            <a:ext cx="11301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has the highest 3/5 concentration at 55%. The majority feel neutral, not engaged. Work-life balance and wellbeing follow the same pattern. Monitor all three dimensions alongside attrition and absence every quarter.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3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7C5CB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4389120"/>
            <a:ext cx="3840480" cy="3840480"/>
          </a:xfrm>
          <a:prstGeom prst="ellipse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7C5CB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specific actions drawn directly from the dashboard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5760720" cy="2304288"/>
          </a:xfrm>
          <a:prstGeom prst="rect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B8A0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4864" cy="2304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508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76072" y="1911096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role-specific retention plans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295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28216" y="2295144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Architects (26.3%) and Sales Reps (25.5%) have the highest attrition. These two roles alone account for the largest share of the 405 total attritions.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6072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28216" y="2862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retention packages for these roles: competitive salary benchmarking, defined promotion criteria, and bi-annual manager stay conversations within 60 days.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5760720" cy="2304288"/>
          </a:xfrm>
          <a:prstGeom prst="rect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B8A0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1417320"/>
            <a:ext cx="54864" cy="2304288"/>
          </a:xfrm>
          <a:prstGeom prst="rect">
            <a:avLst/>
          </a:prstGeom>
          <a:solidFill>
            <a:srgbClr val="B8A0D8"/>
          </a:solidFill>
          <a:ln w="12700">
            <a:solidFill>
              <a:srgbClr val="B8A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65392" y="15087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65392" y="1911096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controlled pay equity audit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22951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17536" y="2295144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employees are more concentrated in the $160-220k band (39.47% vs 35.78% male) but the 78/22 gender split means this cannot be read as a straightforward equity signal.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65392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17536" y="28620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regression-based pay equity audit controlling for job level, role, years of experience and performance rating. Complete within the next 2 quarters.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904488"/>
            <a:ext cx="5760720" cy="2304288"/>
          </a:xfrm>
          <a:prstGeom prst="rect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B8A0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904488"/>
            <a:ext cx="54864" cy="2304288"/>
          </a:xfrm>
          <a:prstGeom prst="rect">
            <a:avLst/>
          </a:prstGeom>
          <a:solidFill>
            <a:srgbClr val="1D7A6E"/>
          </a:solidFill>
          <a:ln w="12700">
            <a:solidFill>
              <a:srgbClr val="1D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6072" y="39959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training to career progression metrics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" y="4782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28216" y="478231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37.54% of employees attended 4+ sessions yet the career heatmap shows 62.97% have had no promotion in 0-1 years. Training volume is not translating to movement.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6072" y="5349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28216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trained employees in the career heatmap every 6 months. Set a KPI: 20% of 4+ session attendees should move promotion band within 18 months.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904488"/>
            <a:ext cx="5760720" cy="2304288"/>
          </a:xfrm>
          <a:prstGeom prst="rect">
            <a:avLst/>
          </a:prstGeom>
          <a:solidFill>
            <a:srgbClr val="7C5CBF">
              <a:alpha val="22000"/>
            </a:srgbClr>
          </a:solidFill>
          <a:ln w="12700">
            <a:solidFill>
              <a:srgbClr val="B8A0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3904488"/>
            <a:ext cx="54864" cy="2304288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65392" y="39959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5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565392" y="439826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quarterly people experience review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65392" y="47823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17536" y="4782312"/>
            <a:ext cx="4297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(55% at 3/5), Wellbeing (25% at 3/5) and Work-Life Balance (28% at 3/5) all cluster at neutral. These are early-warning indicators that precede attrition.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65392" y="5349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17536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quarterly HR dashboard review: track satisfaction scores, absence band shifts and voluntary attrition together. Escalate any dimension that drops below 25% at 4/5.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People Analytics Dashboard   Visualising and Communicating Insights for Business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1186</Words>
  <Application>Microsoft Office PowerPoint</Application>
  <PresentationFormat>Widescreen</PresentationFormat>
  <Paragraphs>210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People Analytics Dashboard</dc:title>
  <dc:subject>PptxGenJS Presentation</dc:subject>
  <dc:creator>PptxGenJS</dc:creator>
  <cp:lastModifiedBy>Dang Khoa Nguyen</cp:lastModifiedBy>
  <cp:revision>2</cp:revision>
  <dcterms:created xsi:type="dcterms:W3CDTF">2026-06-04T06:03:38Z</dcterms:created>
  <dcterms:modified xsi:type="dcterms:W3CDTF">2026-06-04T11:49:57Z</dcterms:modified>
</cp:coreProperties>
</file>